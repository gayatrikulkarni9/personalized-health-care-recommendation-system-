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B2F00-2512-4541-A640-AB3E6907B09B}" v="1" dt="2026-02-08T10:16:33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ri Kulkarni" userId="8bc8f7e35bece5ad" providerId="LiveId" clId="{6F5AA96B-57FA-48B6-8AB8-E8FA0E652726}"/>
    <pc:docChg chg="custSel modSld">
      <pc:chgData name="Gayatri Kulkarni" userId="8bc8f7e35bece5ad" providerId="LiveId" clId="{6F5AA96B-57FA-48B6-8AB8-E8FA0E652726}" dt="2026-02-08T10:16:34.719" v="71" actId="5793"/>
      <pc:docMkLst>
        <pc:docMk/>
      </pc:docMkLst>
      <pc:sldChg chg="modSp mod">
        <pc:chgData name="Gayatri Kulkarni" userId="8bc8f7e35bece5ad" providerId="LiveId" clId="{6F5AA96B-57FA-48B6-8AB8-E8FA0E652726}" dt="2026-02-08T10:16:34.719" v="71" actId="5793"/>
        <pc:sldMkLst>
          <pc:docMk/>
          <pc:sldMk cId="1872325390" sldId="267"/>
        </pc:sldMkLst>
        <pc:spChg chg="mod">
          <ac:chgData name="Gayatri Kulkarni" userId="8bc8f7e35bece5ad" providerId="LiveId" clId="{6F5AA96B-57FA-48B6-8AB8-E8FA0E652726}" dt="2026-02-08T10:16:34.719" v="71" actId="5793"/>
          <ac:spMkLst>
            <pc:docMk/>
            <pc:sldMk cId="1872325390" sldId="267"/>
            <ac:spMk id="3" creationId="{369D1C64-F17E-848A-3567-2B3460BC79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CD5C-A14A-5904-933E-B97FF9E52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22FBF-72B4-C71B-662F-D0333E5C5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18250-03C7-B7A2-002F-04C38022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AFBA1-BED9-FD86-A501-605D1320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91519-8650-978D-4D96-9430E7AB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18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034C-8277-11C3-3C4E-4165028C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AC3B3-3CD2-D0C4-562F-CB2CCB7EB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00E90-7251-315B-5F1C-F854EB79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FF744-5CAE-2F8A-FD4F-37379C0F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59A53-2BBD-705E-5742-D84183BA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23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1DCD-809C-21F9-DD33-4920AE5E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90346-16C9-69BF-0F7F-5BBB311E9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2FC96-8FCB-D838-077E-47AD6B1F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A1F40-416B-17EF-E9CD-6E49DDF9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5FCAF-3352-21AE-87AC-F8690A1D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9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6FC9-F220-AE09-09BE-492F72E4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B304-E4DD-949D-3E30-90D8DBF55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5BCA3-53DB-86B2-7E8E-913521A21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C709C-71FF-3FB0-969B-9CFCCBA45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93FCE-EC3F-21D7-60DE-B9523F53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A8601-C0C8-66A2-F80B-1C596D86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30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82EB4-D9DE-41AB-A7FC-AB972C9D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8AC34-443B-2C43-B944-DFAFB141C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EEE22-7F0B-6DBC-1382-DFDA3EBC9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C34F-B39E-BCC7-8684-A8A6FDDDD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10DCF5-D79E-410D-5168-D0B2AC464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0CA05-D738-9084-D8F8-B54ED01D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8611E-2BE8-3456-19BB-11460471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7D6D8-91B7-1CF6-3AE0-2AE9219B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22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590B-6DB6-2AA6-AC6E-B8800C3E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5E1FF-5A24-585F-01DB-DCB64D96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2BB3E-D811-2352-47B0-EE39ECBE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5C55A-D324-00C1-C43F-3902A14F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77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3FB79-C264-8D9D-FBD2-27F9C9AF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C59BD-B4E0-0655-435E-AAB2223D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1946D-151E-6BAD-1031-55546259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070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C77C-F291-DAF1-D6DD-7CC8CA1D2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4A57-A09A-676C-C972-53346792A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45DAC-7858-754A-1506-A1BBD33CA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91770-4278-2A6B-248F-6FBC5E22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9F1AB-46EA-C351-984C-48053139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EB86C-C130-5C91-0167-EA4F3322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34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3768-8353-48EB-EE29-9CE7BB48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8B23A-86B6-2ABC-037D-709BF2630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B011C-2754-C617-E6C3-A7CAA9EA1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20C08-19B3-FDB3-A849-F365C479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DEABF-CD70-D103-2225-D3172810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7BED6-7C2F-8C56-AE4F-0E432503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083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F88C-2185-5D45-7167-77A712EB7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58DDE-70C3-0A35-71C0-784C102A8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B328E-2EEE-F2B3-34AA-B451ACEA8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F8457-8E1F-4D87-82EC-1E131DC59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4E31A-516C-4678-9B24-BDB2AD23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10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AC743-6551-C950-8327-695B8D7E9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92702-35AA-00A4-3C93-1CB877F0A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9D1CB-4B00-7A4E-E9AA-BC4917236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F467D-D0B3-9560-BF6D-7BAEF8E9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C49E8-650C-A182-F857-778EF3BA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7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69763-4A6F-91EC-A035-4603F61F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1AD47-03A7-E9BA-856A-544F255A3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7AEC7-1773-F60B-CB96-9A8A1421E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57D26-BBC1-424D-A63B-98ED0AF8A2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D87AC-12BA-F94E-114F-A34E3DAE8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AECFD-14F7-B545-7843-FF3689B5E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C36E-DA43-4EAA-AACB-E05C9FCC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65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Djo2lt83xVoeOzmF5_0_B0Cg6MlbwoWZ#scrollTo=6ZPrO65dDsQ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A47D-7399-4358-05A3-55516F92EC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Personalized Healthcare Recommendations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4AC5F-8B75-B07D-7EF4-1399FE4C0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/>
          <a:lstStyle/>
          <a:p>
            <a:r>
              <a:rPr lang="en-US" b="1" dirty="0"/>
              <a:t>Domain:</a:t>
            </a:r>
            <a:r>
              <a:rPr lang="en-US" dirty="0"/>
              <a:t> Healthcare Analytics</a:t>
            </a:r>
            <a:br>
              <a:rPr lang="en-US" dirty="0"/>
            </a:br>
            <a:r>
              <a:rPr lang="en-US" b="1" dirty="0"/>
              <a:t>Technology:</a:t>
            </a:r>
            <a:r>
              <a:rPr lang="en-US" dirty="0"/>
              <a:t> Machine Learning</a:t>
            </a:r>
            <a:br>
              <a:rPr lang="en-US" dirty="0"/>
            </a:br>
            <a:r>
              <a:rPr lang="en-US" b="1" dirty="0"/>
              <a:t>Tools:</a:t>
            </a:r>
            <a:r>
              <a:rPr lang="en-US" dirty="0"/>
              <a:t> Python (</a:t>
            </a:r>
            <a:r>
              <a:rPr lang="en-US" dirty="0" err="1"/>
              <a:t>Jupyter</a:t>
            </a:r>
            <a:r>
              <a:rPr lang="en-US" dirty="0"/>
              <a:t> Notebook, VS Code)</a:t>
            </a:r>
          </a:p>
          <a:p>
            <a:r>
              <a:rPr lang="en-IN" dirty="0"/>
              <a:t>Prepared by : Gayatri Raghunath Kulkarni</a:t>
            </a:r>
          </a:p>
          <a:p>
            <a:r>
              <a:rPr lang="en-IN" dirty="0"/>
              <a:t>UNID: UMID05112569400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528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3956-6F5D-C994-047F-702FFDE2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B7568-F1EA-D5FC-63AA-88C6DECA0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Healthcare datasets contain important blood and clinical indicators.</a:t>
            </a:r>
          </a:p>
          <a:p>
            <a:r>
              <a:rPr lang="en-US" dirty="0"/>
              <a:t>Personalized recommendations help improve patient outcomes.</a:t>
            </a:r>
          </a:p>
          <a:p>
            <a:r>
              <a:rPr lang="en-US" dirty="0"/>
              <a:t>This project uses machine learning to generate tailored healthcare advice.</a:t>
            </a:r>
          </a:p>
          <a:p>
            <a:r>
              <a:rPr lang="en-US" b="1" dirty="0"/>
              <a:t>Goal:</a:t>
            </a:r>
            <a:r>
              <a:rPr lang="en-US" dirty="0"/>
              <a:t> Provide preventive and lifestyle/medication suggestions using patient health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68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DD45-65D8-8730-5041-3623CBB4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3A883-4BCC-F476-1060-2625C3A63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Patients have different medical histories and lifestyle conditions.</a:t>
            </a:r>
          </a:p>
          <a:p>
            <a:r>
              <a:rPr lang="en-US" dirty="0"/>
              <a:t>A single treatment approach does not work for everyone.</a:t>
            </a:r>
          </a:p>
          <a:p>
            <a:r>
              <a:rPr lang="en-US" dirty="0"/>
              <a:t>Need an intelligent system that predicts personalized healthcare recommendations.</a:t>
            </a:r>
          </a:p>
          <a:p>
            <a:r>
              <a:rPr lang="en-US" b="1" dirty="0"/>
              <a:t>Solution:</a:t>
            </a:r>
            <a:r>
              <a:rPr lang="en-US" dirty="0"/>
              <a:t> ML-based recommendation model trained on blood/health indicators.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47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0022-D3E9-5D3B-0220-F07A0E3F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7B2B9-FEF3-2327-8600-E8713D269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Dataset includes patient health parameters such as:</a:t>
            </a:r>
          </a:p>
          <a:p>
            <a:r>
              <a:rPr lang="en-IN" dirty="0"/>
              <a:t>Age, Gender</a:t>
            </a:r>
          </a:p>
          <a:p>
            <a:r>
              <a:rPr lang="en-IN" dirty="0"/>
              <a:t>Blood Pressure</a:t>
            </a:r>
          </a:p>
          <a:p>
            <a:r>
              <a:rPr lang="en-IN" dirty="0"/>
              <a:t>Cholesterol Levels</a:t>
            </a:r>
          </a:p>
          <a:p>
            <a:r>
              <a:rPr lang="en-IN" dirty="0"/>
              <a:t>Heart Rate</a:t>
            </a:r>
          </a:p>
          <a:p>
            <a:r>
              <a:rPr lang="en-IN" dirty="0"/>
              <a:t>Smoking Status</a:t>
            </a:r>
          </a:p>
          <a:p>
            <a:r>
              <a:rPr lang="en-IN" dirty="0"/>
              <a:t>Exercise Level</a:t>
            </a:r>
          </a:p>
          <a:p>
            <a:r>
              <a:rPr lang="en-IN" dirty="0"/>
              <a:t>Medical Lab Results</a:t>
            </a:r>
          </a:p>
          <a:p>
            <a:r>
              <a:rPr lang="en-IN" b="1" dirty="0"/>
              <a:t>Dataset Source:</a:t>
            </a:r>
            <a:r>
              <a:rPr lang="en-IN" dirty="0"/>
              <a:t> Blood healthcare dataset (provided in project document).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08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03B9-89C2-1165-61ED-6D4938DC7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1797A9-83C1-39A4-F687-914B2777C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237" y="1850167"/>
            <a:ext cx="4338778" cy="3157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EA55F3-B506-234E-384D-1B37E2688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531" y="1979202"/>
            <a:ext cx="60293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4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F874-8BAD-80F3-0602-A1EC6A0B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E2A8D2-1657-7801-87AB-5B63344D4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22" y="1873685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4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2602-BADE-E197-49F3-D192A110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184E-3BD6-C3D4-9277-FFA5D6F9B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Steps followed in the project:</a:t>
            </a:r>
          </a:p>
          <a:p>
            <a:r>
              <a:rPr lang="en-US" dirty="0"/>
              <a:t>Understanding the healthcare recommendation problem</a:t>
            </a:r>
          </a:p>
          <a:p>
            <a:r>
              <a:rPr lang="en-US" dirty="0"/>
              <a:t>Dataset collection and preparation</a:t>
            </a:r>
          </a:p>
          <a:p>
            <a:r>
              <a:rPr lang="en-US" dirty="0"/>
              <a:t>Data exploration &amp; visualization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Model selection and training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Recommendation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60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4C8B-9A81-4ABA-DC4F-7463FD03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Exploration &amp; Visualization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5A6AC-D3FB-534F-5954-91B819C78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Python libraries used:</a:t>
            </a:r>
          </a:p>
          <a:p>
            <a:r>
              <a:rPr lang="en-IN" dirty="0"/>
              <a:t>Pandas (data handling)</a:t>
            </a:r>
          </a:p>
          <a:p>
            <a:r>
              <a:rPr lang="en-IN" dirty="0"/>
              <a:t>Matplotlib &amp; Seaborn (visualization)</a:t>
            </a:r>
          </a:p>
          <a:p>
            <a:r>
              <a:rPr lang="en-IN" dirty="0"/>
              <a:t>Visualizations created:</a:t>
            </a:r>
          </a:p>
          <a:p>
            <a:r>
              <a:rPr lang="en-IN" dirty="0"/>
              <a:t>Age distribution histogram</a:t>
            </a:r>
          </a:p>
          <a:p>
            <a:r>
              <a:rPr lang="en-IN" dirty="0"/>
              <a:t>Correlation heatmap</a:t>
            </a:r>
          </a:p>
          <a:p>
            <a:r>
              <a:rPr lang="en-IN" dirty="0"/>
              <a:t>Recommendation category </a:t>
            </a:r>
            <a:r>
              <a:rPr lang="en-IN" dirty="0" err="1"/>
              <a:t>countplot</a:t>
            </a:r>
            <a:endParaRPr lang="en-IN" dirty="0"/>
          </a:p>
          <a:p>
            <a:r>
              <a:rPr lang="en-IN" dirty="0"/>
              <a:t>Purpose: Identify patterns, trends, and feature relationships.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49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0A76-1156-BD27-BAC9-8785C181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C3F55-208D-C12B-4094-15234782D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Preprocessing techniques applied:</a:t>
            </a:r>
          </a:p>
          <a:p>
            <a:r>
              <a:rPr lang="en-IN" dirty="0"/>
              <a:t>Handling missing values</a:t>
            </a:r>
          </a:p>
          <a:p>
            <a:r>
              <a:rPr lang="en-IN" dirty="0"/>
              <a:t>Normalizing continuous features</a:t>
            </a:r>
          </a:p>
          <a:p>
            <a:r>
              <a:rPr lang="en-IN" dirty="0"/>
              <a:t>Encoding categorical variables using One-Hot Encoding</a:t>
            </a:r>
          </a:p>
          <a:p>
            <a:r>
              <a:rPr lang="en-IN" dirty="0"/>
              <a:t>Splitting dataset into training and testing sets</a:t>
            </a:r>
          </a:p>
          <a:p>
            <a:r>
              <a:rPr lang="en-IN" dirty="0"/>
              <a:t>Ensures clean and model-ready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497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0467-4CE0-7DC4-A169-2999E5A6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Machine Learning Model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9E22-3DA9-2E20-3A2F-1D1F5490E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Model selected: </a:t>
            </a:r>
            <a:r>
              <a:rPr lang="en-IN" b="1" dirty="0"/>
              <a:t>Random Forest Classifier</a:t>
            </a:r>
            <a:endParaRPr lang="en-IN" dirty="0"/>
          </a:p>
          <a:p>
            <a:r>
              <a:rPr lang="en-IN" dirty="0"/>
              <a:t>Reasons:</a:t>
            </a:r>
          </a:p>
          <a:p>
            <a:r>
              <a:rPr lang="en-IN" dirty="0"/>
              <a:t>High accuracy on healthcare datasets</a:t>
            </a:r>
          </a:p>
          <a:p>
            <a:r>
              <a:rPr lang="en-IN" dirty="0"/>
              <a:t>Handles complex feature interactions</a:t>
            </a:r>
          </a:p>
          <a:p>
            <a:r>
              <a:rPr lang="en-IN" dirty="0"/>
              <a:t>Robust against overfitting</a:t>
            </a:r>
          </a:p>
          <a:p>
            <a:r>
              <a:rPr lang="en-IN" dirty="0"/>
              <a:t>Other models considered:</a:t>
            </a:r>
          </a:p>
          <a:p>
            <a:r>
              <a:rPr lang="en-IN" dirty="0"/>
              <a:t>Logistic Regression</a:t>
            </a:r>
          </a:p>
          <a:p>
            <a:r>
              <a:rPr lang="en-IN" dirty="0"/>
              <a:t>Decision Trees</a:t>
            </a:r>
          </a:p>
          <a:p>
            <a:r>
              <a:rPr lang="en-IN" dirty="0"/>
              <a:t>Gradient Boosting</a:t>
            </a:r>
          </a:p>
          <a:p>
            <a:r>
              <a:rPr lang="en-IN" dirty="0"/>
              <a:t>Support Vector Machines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669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437F-1AA1-F17D-CAC8-34670DF4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49B36-9F77-CE03-DDE4-B5CE2A059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Evaluation metrics used:</a:t>
            </a:r>
          </a:p>
          <a:p>
            <a:r>
              <a:rPr lang="en-IN" dirty="0"/>
              <a:t>Accuracy</a:t>
            </a:r>
          </a:p>
          <a:p>
            <a:r>
              <a:rPr lang="en-IN" dirty="0"/>
              <a:t>Precision</a:t>
            </a:r>
          </a:p>
          <a:p>
            <a:r>
              <a:rPr lang="en-IN" dirty="0"/>
              <a:t>Recall</a:t>
            </a:r>
          </a:p>
          <a:p>
            <a:r>
              <a:rPr lang="en-IN" dirty="0"/>
              <a:t>F1-score</a:t>
            </a:r>
          </a:p>
          <a:p>
            <a:r>
              <a:rPr lang="en-IN" dirty="0"/>
              <a:t>Confusion Matrix</a:t>
            </a:r>
          </a:p>
          <a:p>
            <a:r>
              <a:rPr lang="en-IN" dirty="0"/>
              <a:t>ROC-AUC Curve</a:t>
            </a:r>
          </a:p>
          <a:p>
            <a:r>
              <a:rPr lang="en-IN" dirty="0"/>
              <a:t>Visualization:</a:t>
            </a:r>
          </a:p>
          <a:p>
            <a:r>
              <a:rPr lang="en-IN" dirty="0"/>
              <a:t>Confusion matrix heatmap for performance analysis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DCE1D-A18E-447B-3A03-32E235940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600228"/>
            <a:ext cx="49434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79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16A2-0759-43D3-F826-BC794A76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Personalized Recommendation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EFD9F-A127-2F4D-F94B-CC73537AF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System predicts healthcare actions such as:</a:t>
            </a:r>
          </a:p>
          <a:p>
            <a:r>
              <a:rPr lang="en-US" dirty="0"/>
              <a:t>No action needed</a:t>
            </a:r>
          </a:p>
          <a:p>
            <a:r>
              <a:rPr lang="en-US" dirty="0"/>
              <a:t>Regular check-up</a:t>
            </a:r>
          </a:p>
          <a:p>
            <a:r>
              <a:rPr lang="en-US" dirty="0"/>
              <a:t>Lifestyle changes</a:t>
            </a:r>
          </a:p>
          <a:p>
            <a:r>
              <a:rPr lang="en-US" dirty="0"/>
              <a:t>Medication support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Input: Patient BP, Cholesterol, Lifestyle</a:t>
            </a:r>
            <a:br>
              <a:rPr lang="en-US" dirty="0"/>
            </a:br>
            <a:r>
              <a:rPr lang="en-US" dirty="0"/>
              <a:t>Output: Personalized healthcare recommendation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688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8838-5506-F4FA-A3F8-529D43DB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&amp; 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40D65-FF5F-D574-ACC6-83F985995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successfully classifies patient recommendation categories.</a:t>
            </a:r>
          </a:p>
          <a:p>
            <a:r>
              <a:rPr lang="en-US" dirty="0"/>
              <a:t>Lifestyle factors significantly impact prediction outcomes.</a:t>
            </a:r>
          </a:p>
          <a:p>
            <a:r>
              <a:rPr lang="en-US" dirty="0"/>
              <a:t>Random Forest achieved strong performance with balanced accuracy.</a:t>
            </a:r>
          </a:p>
          <a:p>
            <a:r>
              <a:rPr lang="en-US" dirty="0"/>
              <a:t>Insights help clinicians and patients take preventive steps early.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38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6212-3010-4D46-6FB2-7EF8B2CD1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D1C64-F17E-848A-3567-2B3460BC7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Conclusion:</a:t>
            </a:r>
          </a:p>
          <a:p>
            <a:r>
              <a:rPr lang="en-IN" dirty="0"/>
              <a:t>ML-based healthcare recommendation improves personalized treatment planning.</a:t>
            </a:r>
          </a:p>
          <a:p>
            <a:r>
              <a:rPr lang="en-IN" dirty="0"/>
              <a:t>Provides actionable and interpretable healthcare guidance.</a:t>
            </a:r>
          </a:p>
          <a:p>
            <a:r>
              <a:rPr lang="en-IN" b="1" dirty="0"/>
              <a:t>Future Enhancements:</a:t>
            </a:r>
          </a:p>
          <a:p>
            <a:r>
              <a:rPr lang="en-IN" dirty="0"/>
              <a:t>Integrating wearable device real-time data</a:t>
            </a:r>
          </a:p>
          <a:p>
            <a:r>
              <a:rPr lang="en-IN" dirty="0"/>
              <a:t>Using Explainable AI (SHAP/LIME)</a:t>
            </a:r>
          </a:p>
          <a:p>
            <a:r>
              <a:rPr lang="en-IN" dirty="0"/>
              <a:t>Deploying system with Flask/Django as a web app</a:t>
            </a:r>
          </a:p>
          <a:p>
            <a:r>
              <a:rPr lang="en-IN" dirty="0"/>
              <a:t>Expanding dataset for higher accuracy</a:t>
            </a:r>
          </a:p>
          <a:p>
            <a:r>
              <a:rPr lang="en-IN" dirty="0"/>
              <a:t>Ref this link for code ref of this project : </a:t>
            </a:r>
            <a:r>
              <a:rPr lang="en-US" dirty="0">
                <a:hlinkClick r:id="rId2"/>
              </a:rPr>
              <a:t>personalized </a:t>
            </a:r>
            <a:r>
              <a:rPr lang="en-US" dirty="0" err="1">
                <a:hlinkClick r:id="rId2"/>
              </a:rPr>
              <a:t>helathcare</a:t>
            </a:r>
            <a:r>
              <a:rPr lang="en-US" dirty="0">
                <a:hlinkClick r:id="rId2"/>
              </a:rPr>
              <a:t> recommendation system – </a:t>
            </a:r>
            <a:r>
              <a:rPr lang="en-US" dirty="0" err="1">
                <a:hlinkClick r:id="rId2"/>
              </a:rPr>
              <a:t>Colab</a:t>
            </a:r>
            <a:r>
              <a:rPr lang="en-US"/>
              <a:t>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325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461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Personalized Healthcare Recommendations System</vt:lpstr>
      <vt:lpstr>Project Overview</vt:lpstr>
      <vt:lpstr>Problem Statement</vt:lpstr>
      <vt:lpstr>Dataset Description</vt:lpstr>
      <vt:lpstr>PowerPoint Presentation</vt:lpstr>
      <vt:lpstr>PowerPoint Presentation</vt:lpstr>
      <vt:lpstr>Project Workflow</vt:lpstr>
      <vt:lpstr>Data Exploration &amp; Visualization</vt:lpstr>
      <vt:lpstr>Data Preprocessing</vt:lpstr>
      <vt:lpstr>Machine Learning Model Used</vt:lpstr>
      <vt:lpstr>Model Evaluation</vt:lpstr>
      <vt:lpstr>Personalized Recommendation System</vt:lpstr>
      <vt:lpstr>Results &amp; Key Insights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Kulkarni</dc:creator>
  <cp:lastModifiedBy>Gayatri Kulkarni</cp:lastModifiedBy>
  <cp:revision>1</cp:revision>
  <dcterms:created xsi:type="dcterms:W3CDTF">2026-02-08T07:13:56Z</dcterms:created>
  <dcterms:modified xsi:type="dcterms:W3CDTF">2026-02-08T10:16:38Z</dcterms:modified>
</cp:coreProperties>
</file>